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4"/>
  </p:sldMasterIdLst>
  <p:notesMasterIdLst>
    <p:notesMasterId r:id="rId8"/>
  </p:notesMasterIdLst>
  <p:handoutMasterIdLst>
    <p:handoutMasterId r:id="rId9"/>
  </p:handoutMasterIdLst>
  <p:sldIdLst>
    <p:sldId id="256" r:id="rId5"/>
    <p:sldId id="264" r:id="rId6"/>
    <p:sldId id="265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670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9B3372-74CF-4E21-A4D4-286B22AA5A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3762BE-D43C-49F5-99A5-BF49C69592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5766F-5EC0-4797-B4D1-777FCB005B11}" type="datetimeFigureOut">
              <a:rPr lang="en-US" smtClean="0"/>
              <a:t>3/6/2023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9E452-9BCA-4AF5-9A9C-233BF410EA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F9F63-CE4F-44E2-A07D-7E654DE9F57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AC76B-F5B1-4D6E-BACD-2A80744AC9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1452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4B5EC-152C-4627-80C0-63B10D5574EF}" type="datetimeFigureOut">
              <a:rPr lang="en-US" smtClean="0"/>
              <a:t>3/6/2023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EE60E-651F-40CC-AD73-C00F10CE42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41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3/6/2023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25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80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27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1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05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62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3/6/2023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14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40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25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28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45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527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53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605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16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053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0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3/6/2023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987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8D3E5-C7A3-47DF-A374-46BF83A69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1648" y="371475"/>
            <a:ext cx="9229726" cy="205740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3600" dirty="0">
                <a:latin typeface="Rockwell" panose="02060603020205020403" pitchFamily="18" charset="0"/>
              </a:rPr>
              <a:t>Conception et développement d'une application de Back Office pour la gestion de stock </a:t>
            </a:r>
            <a:br>
              <a:rPr lang="fr-FR" sz="3600" dirty="0">
                <a:latin typeface="Rockwell" panose="02060603020205020403" pitchFamily="18" charset="0"/>
              </a:rPr>
            </a:br>
            <a:r>
              <a:rPr lang="fr-FR" sz="3600" dirty="0">
                <a:latin typeface="Rockwell" panose="02060603020205020403" pitchFamily="18" charset="0"/>
              </a:rPr>
              <a:t>(achats, entrées et sorties de stock)</a:t>
            </a:r>
            <a:endParaRPr lang="en-US" sz="3600" dirty="0">
              <a:latin typeface="Rockwell" panose="020606030202050204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8725B-6E40-4D82-B375-7831D81C29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0723" y="4668838"/>
            <a:ext cx="8791575" cy="1655762"/>
          </a:xfrm>
        </p:spPr>
        <p:txBody>
          <a:bodyPr>
            <a:normAutofit/>
          </a:bodyPr>
          <a:lstStyle/>
          <a:p>
            <a:pPr algn="ctr"/>
            <a:r>
              <a:rPr lang="pt-BR" sz="2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Encadreur : Sidali Belmouhoub, Wahid Benbetka.</a:t>
            </a:r>
          </a:p>
          <a:p>
            <a:pPr algn="ctr"/>
            <a:r>
              <a:rPr lang="fr-FR" sz="2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Présenté par : Ait Mohamed Abdelmalek.</a:t>
            </a:r>
            <a:endParaRPr lang="en-US" sz="24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11DDC-4346-0663-8B16-CE386505E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70552"/>
            <a:ext cx="9905998" cy="695932"/>
          </a:xfrm>
        </p:spPr>
        <p:txBody>
          <a:bodyPr anchor="ctr">
            <a:normAutofit/>
          </a:bodyPr>
          <a:lstStyle/>
          <a:p>
            <a:pPr algn="ctr"/>
            <a:r>
              <a:rPr lang="fr-FR" dirty="0"/>
              <a:t>Flux d’information</a:t>
            </a:r>
          </a:p>
        </p:txBody>
      </p:sp>
      <p:pic>
        <p:nvPicPr>
          <p:cNvPr id="7" name="Content Placeholder 6" descr="Diagram&#10;&#10;Description automatically generated">
            <a:extLst>
              <a:ext uri="{FF2B5EF4-FFF2-40B4-BE49-F238E27FC236}">
                <a16:creationId xmlns:a16="http://schemas.microsoft.com/office/drawing/2014/main" id="{D187E164-7C76-8404-A303-38157A73B78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28154" y="1318909"/>
            <a:ext cx="7959111" cy="4843766"/>
          </a:xfrm>
          <a:noFill/>
        </p:spPr>
      </p:pic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1D9F7DD7-DF0B-7D07-A7F0-590F238B978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47749189"/>
              </p:ext>
            </p:extLst>
          </p:nvPr>
        </p:nvGraphicFramePr>
        <p:xfrm>
          <a:off x="8506090" y="1318909"/>
          <a:ext cx="3390635" cy="48437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9579">
                  <a:extLst>
                    <a:ext uri="{9D8B030D-6E8A-4147-A177-3AD203B41FA5}">
                      <a16:colId xmlns:a16="http://schemas.microsoft.com/office/drawing/2014/main" val="4135233107"/>
                    </a:ext>
                  </a:extLst>
                </a:gridCol>
                <a:gridCol w="2801056">
                  <a:extLst>
                    <a:ext uri="{9D8B030D-6E8A-4147-A177-3AD203B41FA5}">
                      <a16:colId xmlns:a16="http://schemas.microsoft.com/office/drawing/2014/main" val="3646872351"/>
                    </a:ext>
                  </a:extLst>
                </a:gridCol>
              </a:tblGrid>
              <a:tr h="219308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</a:pPr>
                      <a:r>
                        <a:rPr lang="fr-FR" sz="1000">
                          <a:effectLst/>
                        </a:rPr>
                        <a:t>N° Flux</a:t>
                      </a:r>
                      <a:endParaRPr lang="fr-FR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668" marR="50668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</a:pPr>
                      <a:r>
                        <a:rPr lang="fr-FR" sz="1000" dirty="0">
                          <a:effectLst/>
                        </a:rPr>
                        <a:t>Description</a:t>
                      </a:r>
                      <a:endParaRPr lang="fr-FR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668" marR="50668" marT="0" marB="0" anchor="ctr"/>
                </a:tc>
                <a:extLst>
                  <a:ext uri="{0D108BD9-81ED-4DB2-BD59-A6C34878D82A}">
                    <a16:rowId xmlns:a16="http://schemas.microsoft.com/office/drawing/2014/main" val="8998424"/>
                  </a:ext>
                </a:extLst>
              </a:tr>
              <a:tr h="289029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</a:pPr>
                      <a:r>
                        <a:rPr lang="fr-FR" sz="1000">
                          <a:effectLst/>
                        </a:rPr>
                        <a:t>1</a:t>
                      </a:r>
                      <a:endParaRPr lang="fr-FR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668" marR="50668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</a:pPr>
                      <a:r>
                        <a:rPr lang="fr-FR" sz="1000">
                          <a:effectLst/>
                        </a:rPr>
                        <a:t>Bon de commande</a:t>
                      </a:r>
                      <a:endParaRPr lang="fr-FR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668" marR="50668" marT="0" marB="0" anchor="ctr"/>
                </a:tc>
                <a:extLst>
                  <a:ext uri="{0D108BD9-81ED-4DB2-BD59-A6C34878D82A}">
                    <a16:rowId xmlns:a16="http://schemas.microsoft.com/office/drawing/2014/main" val="1110900762"/>
                  </a:ext>
                </a:extLst>
              </a:tr>
              <a:tr h="289029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</a:pPr>
                      <a:r>
                        <a:rPr lang="fr-FR" sz="1000">
                          <a:effectLst/>
                        </a:rPr>
                        <a:t>1’</a:t>
                      </a:r>
                      <a:endParaRPr lang="fr-FR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668" marR="50668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</a:pPr>
                      <a:r>
                        <a:rPr lang="fr-FR" sz="1000">
                          <a:effectLst/>
                        </a:rPr>
                        <a:t>Commande refuser</a:t>
                      </a:r>
                      <a:endParaRPr lang="fr-FR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668" marR="50668" marT="0" marB="0" anchor="ctr"/>
                </a:tc>
                <a:extLst>
                  <a:ext uri="{0D108BD9-81ED-4DB2-BD59-A6C34878D82A}">
                    <a16:rowId xmlns:a16="http://schemas.microsoft.com/office/drawing/2014/main" val="339890573"/>
                  </a:ext>
                </a:extLst>
              </a:tr>
              <a:tr h="289029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</a:pPr>
                      <a:r>
                        <a:rPr lang="fr-FR" sz="1000">
                          <a:effectLst/>
                        </a:rPr>
                        <a:t>1’’</a:t>
                      </a:r>
                      <a:endParaRPr lang="fr-FR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668" marR="50668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</a:pPr>
                      <a:r>
                        <a:rPr lang="fr-FR" sz="1000">
                          <a:effectLst/>
                        </a:rPr>
                        <a:t>Bon de commande confirmé</a:t>
                      </a:r>
                      <a:endParaRPr lang="fr-FR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668" marR="50668" marT="0" marB="0" anchor="ctr"/>
                </a:tc>
                <a:extLst>
                  <a:ext uri="{0D108BD9-81ED-4DB2-BD59-A6C34878D82A}">
                    <a16:rowId xmlns:a16="http://schemas.microsoft.com/office/drawing/2014/main" val="709854465"/>
                  </a:ext>
                </a:extLst>
              </a:tr>
              <a:tr h="289029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</a:pPr>
                      <a:r>
                        <a:rPr lang="fr-FR" sz="1000">
                          <a:effectLst/>
                        </a:rPr>
                        <a:t>2</a:t>
                      </a:r>
                      <a:endParaRPr lang="fr-FR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668" marR="50668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</a:pPr>
                      <a:r>
                        <a:rPr lang="fr-FR" sz="1000" dirty="0">
                          <a:effectLst/>
                        </a:rPr>
                        <a:t>Confirmation de la disponibilité</a:t>
                      </a:r>
                      <a:endParaRPr lang="fr-FR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668" marR="50668" marT="0" marB="0" anchor="ctr"/>
                </a:tc>
                <a:extLst>
                  <a:ext uri="{0D108BD9-81ED-4DB2-BD59-A6C34878D82A}">
                    <a16:rowId xmlns:a16="http://schemas.microsoft.com/office/drawing/2014/main" val="51522954"/>
                  </a:ext>
                </a:extLst>
              </a:tr>
              <a:tr h="289029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</a:pPr>
                      <a:r>
                        <a:rPr lang="fr-FR" sz="1000">
                          <a:effectLst/>
                        </a:rPr>
                        <a:t>2’</a:t>
                      </a:r>
                      <a:endParaRPr lang="fr-FR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668" marR="50668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</a:pPr>
                      <a:r>
                        <a:rPr lang="fr-FR" sz="1000">
                          <a:effectLst/>
                        </a:rPr>
                        <a:t>Etat des stocks</a:t>
                      </a:r>
                      <a:endParaRPr lang="fr-FR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668" marR="50668" marT="0" marB="0" anchor="ctr"/>
                </a:tc>
                <a:extLst>
                  <a:ext uri="{0D108BD9-81ED-4DB2-BD59-A6C34878D82A}">
                    <a16:rowId xmlns:a16="http://schemas.microsoft.com/office/drawing/2014/main" val="1214475843"/>
                  </a:ext>
                </a:extLst>
              </a:tr>
              <a:tr h="289029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</a:pPr>
                      <a:r>
                        <a:rPr lang="fr-FR" sz="1000">
                          <a:effectLst/>
                        </a:rPr>
                        <a:t>3</a:t>
                      </a:r>
                      <a:endParaRPr lang="fr-FR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668" marR="50668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</a:pPr>
                      <a:r>
                        <a:rPr lang="fr-FR" sz="1000">
                          <a:effectLst/>
                        </a:rPr>
                        <a:t>Bon de chargement.</a:t>
                      </a:r>
                      <a:endParaRPr lang="fr-FR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668" marR="50668" marT="0" marB="0" anchor="ctr"/>
                </a:tc>
                <a:extLst>
                  <a:ext uri="{0D108BD9-81ED-4DB2-BD59-A6C34878D82A}">
                    <a16:rowId xmlns:a16="http://schemas.microsoft.com/office/drawing/2014/main" val="2568996982"/>
                  </a:ext>
                </a:extLst>
              </a:tr>
              <a:tr h="289029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</a:pPr>
                      <a:r>
                        <a:rPr lang="fr-FR" sz="1000">
                          <a:effectLst/>
                        </a:rPr>
                        <a:t>4</a:t>
                      </a:r>
                      <a:endParaRPr lang="fr-FR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668" marR="50668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</a:pPr>
                      <a:r>
                        <a:rPr lang="fr-FR" sz="1000">
                          <a:effectLst/>
                        </a:rPr>
                        <a:t>Facture.</a:t>
                      </a:r>
                      <a:endParaRPr lang="fr-FR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668" marR="50668" marT="0" marB="0" anchor="ctr"/>
                </a:tc>
                <a:extLst>
                  <a:ext uri="{0D108BD9-81ED-4DB2-BD59-A6C34878D82A}">
                    <a16:rowId xmlns:a16="http://schemas.microsoft.com/office/drawing/2014/main" val="1625396960"/>
                  </a:ext>
                </a:extLst>
              </a:tr>
              <a:tr h="289029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</a:pPr>
                      <a:r>
                        <a:rPr lang="fr-FR" sz="1000">
                          <a:effectLst/>
                        </a:rPr>
                        <a:t>4’</a:t>
                      </a:r>
                      <a:endParaRPr lang="fr-FR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668" marR="50668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</a:pPr>
                      <a:r>
                        <a:rPr lang="fr-FR" sz="1000">
                          <a:effectLst/>
                        </a:rPr>
                        <a:t>Facture acquittée.</a:t>
                      </a:r>
                      <a:endParaRPr lang="fr-FR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668" marR="50668" marT="0" marB="0" anchor="ctr"/>
                </a:tc>
                <a:extLst>
                  <a:ext uri="{0D108BD9-81ED-4DB2-BD59-A6C34878D82A}">
                    <a16:rowId xmlns:a16="http://schemas.microsoft.com/office/drawing/2014/main" val="1025496562"/>
                  </a:ext>
                </a:extLst>
              </a:tr>
              <a:tr h="289029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</a:pPr>
                      <a:r>
                        <a:rPr lang="fr-FR" sz="1000">
                          <a:effectLst/>
                        </a:rPr>
                        <a:t>5</a:t>
                      </a:r>
                      <a:endParaRPr lang="fr-FR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668" marR="50668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</a:pPr>
                      <a:r>
                        <a:rPr lang="fr-FR" sz="1000">
                          <a:effectLst/>
                        </a:rPr>
                        <a:t>Programme de déploiement</a:t>
                      </a:r>
                      <a:endParaRPr lang="fr-FR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668" marR="50668" marT="0" marB="0" anchor="ctr"/>
                </a:tc>
                <a:extLst>
                  <a:ext uri="{0D108BD9-81ED-4DB2-BD59-A6C34878D82A}">
                    <a16:rowId xmlns:a16="http://schemas.microsoft.com/office/drawing/2014/main" val="684572150"/>
                  </a:ext>
                </a:extLst>
              </a:tr>
              <a:tr h="289029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</a:pPr>
                      <a:r>
                        <a:rPr lang="fr-FR" sz="1000">
                          <a:effectLst/>
                        </a:rPr>
                        <a:t>5’</a:t>
                      </a:r>
                      <a:endParaRPr lang="fr-FR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668" marR="50668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</a:pPr>
                      <a:r>
                        <a:rPr lang="fr-FR" sz="1000">
                          <a:effectLst/>
                        </a:rPr>
                        <a:t>Programme de déploiement (Observation)</a:t>
                      </a:r>
                      <a:endParaRPr lang="fr-FR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668" marR="50668" marT="0" marB="0" anchor="ctr"/>
                </a:tc>
                <a:extLst>
                  <a:ext uri="{0D108BD9-81ED-4DB2-BD59-A6C34878D82A}">
                    <a16:rowId xmlns:a16="http://schemas.microsoft.com/office/drawing/2014/main" val="4094883101"/>
                  </a:ext>
                </a:extLst>
              </a:tr>
              <a:tr h="289029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</a:pPr>
                      <a:r>
                        <a:rPr lang="fr-FR" sz="1000">
                          <a:effectLst/>
                        </a:rPr>
                        <a:t>6</a:t>
                      </a:r>
                      <a:endParaRPr lang="fr-FR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668" marR="50668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</a:pPr>
                      <a:r>
                        <a:rPr lang="fr-FR" sz="1000">
                          <a:effectLst/>
                        </a:rPr>
                        <a:t>Bon de livraison</a:t>
                      </a:r>
                      <a:endParaRPr lang="fr-FR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668" marR="50668" marT="0" marB="0" anchor="ctr"/>
                </a:tc>
                <a:extLst>
                  <a:ext uri="{0D108BD9-81ED-4DB2-BD59-A6C34878D82A}">
                    <a16:rowId xmlns:a16="http://schemas.microsoft.com/office/drawing/2014/main" val="1117924469"/>
                  </a:ext>
                </a:extLst>
              </a:tr>
              <a:tr h="289029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</a:pPr>
                      <a:r>
                        <a:rPr lang="fr-FR" sz="1000">
                          <a:effectLst/>
                        </a:rPr>
                        <a:t>6’</a:t>
                      </a:r>
                      <a:endParaRPr lang="fr-FR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668" marR="50668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</a:pPr>
                      <a:r>
                        <a:rPr lang="fr-FR" sz="1000">
                          <a:effectLst/>
                        </a:rPr>
                        <a:t>Bon de livraison signé (Bon de réception)</a:t>
                      </a:r>
                      <a:endParaRPr lang="fr-FR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668" marR="50668" marT="0" marB="0" anchor="ctr"/>
                </a:tc>
                <a:extLst>
                  <a:ext uri="{0D108BD9-81ED-4DB2-BD59-A6C34878D82A}">
                    <a16:rowId xmlns:a16="http://schemas.microsoft.com/office/drawing/2014/main" val="812089628"/>
                  </a:ext>
                </a:extLst>
              </a:tr>
              <a:tr h="289029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</a:pPr>
                      <a:r>
                        <a:rPr lang="fr-FR" sz="1000">
                          <a:effectLst/>
                        </a:rPr>
                        <a:t>7</a:t>
                      </a:r>
                      <a:endParaRPr lang="fr-FR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668" marR="50668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</a:pPr>
                      <a:r>
                        <a:rPr lang="fr-FR" sz="1000">
                          <a:effectLst/>
                        </a:rPr>
                        <a:t>Commande.</a:t>
                      </a:r>
                      <a:endParaRPr lang="fr-FR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668" marR="50668" marT="0" marB="0" anchor="ctr"/>
                </a:tc>
                <a:extLst>
                  <a:ext uri="{0D108BD9-81ED-4DB2-BD59-A6C34878D82A}">
                    <a16:rowId xmlns:a16="http://schemas.microsoft.com/office/drawing/2014/main" val="81951280"/>
                  </a:ext>
                </a:extLst>
              </a:tr>
              <a:tr h="289029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</a:pPr>
                      <a:r>
                        <a:rPr lang="fr-FR" sz="1000">
                          <a:effectLst/>
                        </a:rPr>
                        <a:t>8</a:t>
                      </a:r>
                      <a:endParaRPr lang="fr-FR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668" marR="50668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</a:pPr>
                      <a:r>
                        <a:rPr lang="fr-FR" sz="1000">
                          <a:effectLst/>
                        </a:rPr>
                        <a:t>Bon d’entrer (l'entrée de produit fini).</a:t>
                      </a:r>
                      <a:endParaRPr lang="fr-FR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668" marR="50668" marT="0" marB="0" anchor="ctr"/>
                </a:tc>
                <a:extLst>
                  <a:ext uri="{0D108BD9-81ED-4DB2-BD59-A6C34878D82A}">
                    <a16:rowId xmlns:a16="http://schemas.microsoft.com/office/drawing/2014/main" val="1767148715"/>
                  </a:ext>
                </a:extLst>
              </a:tr>
              <a:tr h="289029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</a:pPr>
                      <a:r>
                        <a:rPr lang="fr-FR" sz="1000">
                          <a:effectLst/>
                        </a:rPr>
                        <a:t>8’</a:t>
                      </a:r>
                      <a:endParaRPr lang="fr-FR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668" marR="50668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</a:pPr>
                      <a:r>
                        <a:rPr lang="fr-FR" sz="1000">
                          <a:effectLst/>
                        </a:rPr>
                        <a:t>Bon d’entrer signé.</a:t>
                      </a:r>
                      <a:endParaRPr lang="fr-FR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668" marR="50668" marT="0" marB="0" anchor="ctr"/>
                </a:tc>
                <a:extLst>
                  <a:ext uri="{0D108BD9-81ED-4DB2-BD59-A6C34878D82A}">
                    <a16:rowId xmlns:a16="http://schemas.microsoft.com/office/drawing/2014/main" val="2495625714"/>
                  </a:ext>
                </a:extLst>
              </a:tr>
              <a:tr h="289029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</a:pPr>
                      <a:r>
                        <a:rPr lang="fr-FR" sz="1000" dirty="0">
                          <a:effectLst/>
                        </a:rPr>
                        <a:t>9</a:t>
                      </a:r>
                      <a:endParaRPr lang="fr-FR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668" marR="50668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</a:pPr>
                      <a:r>
                        <a:rPr lang="fr-FR" sz="1000" dirty="0">
                          <a:effectLst/>
                        </a:rPr>
                        <a:t>Fiche d'inventaire.</a:t>
                      </a:r>
                      <a:endParaRPr lang="fr-FR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668" marR="50668" marT="0" marB="0" anchor="ctr"/>
                </a:tc>
                <a:extLst>
                  <a:ext uri="{0D108BD9-81ED-4DB2-BD59-A6C34878D82A}">
                    <a16:rowId xmlns:a16="http://schemas.microsoft.com/office/drawing/2014/main" val="19232519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0207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46B11-F6F6-99F9-9DDD-4C3A56430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505" y="437543"/>
            <a:ext cx="9774237" cy="629257"/>
          </a:xfrm>
        </p:spPr>
        <p:txBody>
          <a:bodyPr/>
          <a:lstStyle/>
          <a:p>
            <a:pPr algn="ctr"/>
            <a:r>
              <a:rPr lang="fr-FR" dirty="0"/>
              <a:t>Modèle conceptuel des données (MCD)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EAB4E6-061A-490B-7A26-3C4D79C617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639" y="1209040"/>
            <a:ext cx="7792722" cy="54815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84084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77815013_Problem-solution cycle_RVA_v3" id="{20834410-FC37-46AC-ACB7-FB202F8C4BA9}" vid="{1ED24379-BFF7-4E2F-B7EC-A47C906E21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7866CFD-F94E-4AE5-ACEA-86FEC0F48A1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579702B-25C7-40D7-9E29-7686B11A96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C0B241-13E5-418D-8920-D23491E2D2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Problemsolution cycle </Template>
  <TotalTime>660</TotalTime>
  <Words>137</Words>
  <Application>Microsoft Office PowerPoint</Application>
  <PresentationFormat>Widescreen</PresentationFormat>
  <Paragraphs>39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Rockwell</vt:lpstr>
      <vt:lpstr>Tahoma</vt:lpstr>
      <vt:lpstr>Times New Roman</vt:lpstr>
      <vt:lpstr>Tw Cen MT</vt:lpstr>
      <vt:lpstr>Circuit</vt:lpstr>
      <vt:lpstr>Conception et développement d'une application de Back Office pour la gestion de stock  (achats, entrées et sorties de stock)</vt:lpstr>
      <vt:lpstr>Flux d’information</vt:lpstr>
      <vt:lpstr>Modèle conceptuel des données (MCD)</vt:lpstr>
    </vt:vector>
  </TitlesOfParts>
  <Company>Danone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&lt;insert problem Title&gt;</dc:title>
  <dc:creator>AIT MOHAMED Abd El Malek</dc:creator>
  <cp:lastModifiedBy>AIT MOHAMED Abd El Malek</cp:lastModifiedBy>
  <cp:revision>11</cp:revision>
  <dcterms:created xsi:type="dcterms:W3CDTF">2023-03-05T10:19:55Z</dcterms:created>
  <dcterms:modified xsi:type="dcterms:W3CDTF">2023-03-06T14:15:22Z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